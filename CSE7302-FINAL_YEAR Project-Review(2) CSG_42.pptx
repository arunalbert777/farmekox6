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69" r:id="rId4"/>
    <p:sldId id="272" r:id="rId5"/>
    <p:sldId id="274" r:id="rId6"/>
    <p:sldId id="275" r:id="rId7"/>
    <p:sldId id="276" r:id="rId8"/>
    <p:sldId id="277" r:id="rId9"/>
    <p:sldId id="278" r:id="rId10"/>
    <p:sldId id="273" r:id="rId11"/>
    <p:sldId id="271" r:id="rId12"/>
    <p:sldId id="270" r:id="rId13"/>
    <p:sldId id="268"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0076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588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9778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git@github.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3200" dirty="0" err="1">
                <a:solidFill>
                  <a:schemeClr val="tx1"/>
                </a:solidFill>
                <a:latin typeface="Cambria" panose="02040503050406030204" pitchFamily="18" charset="0"/>
                <a:ea typeface="Cambria" panose="02040503050406030204" pitchFamily="18" charset="0"/>
              </a:rPr>
              <a:t>FarmEkoX</a:t>
            </a:r>
            <a:r>
              <a:rPr lang="en-US" sz="3200">
                <a:solidFill>
                  <a:schemeClr val="tx1"/>
                </a:solidFill>
                <a:latin typeface="Cambria" panose="02040503050406030204" pitchFamily="18" charset="0"/>
                <a:ea typeface="Cambria" panose="02040503050406030204" pitchFamily="18" charset="0"/>
              </a:rPr>
              <a:t>: </a:t>
            </a:r>
            <a:r>
              <a:rPr lang="en-US" sz="3200" dirty="0">
                <a:solidFill>
                  <a:schemeClr val="tx1"/>
                </a:solidFill>
                <a:latin typeface="Cambria" panose="02040503050406030204" pitchFamily="18" charset="0"/>
                <a:ea typeface="Cambria" panose="02040503050406030204" pitchFamily="18" charset="0"/>
              </a:rPr>
              <a:t>Smart Crop Advisory System for Small and </a:t>
            </a:r>
            <a:r>
              <a:rPr lang="en-US" sz="3200">
                <a:solidFill>
                  <a:schemeClr val="tx1"/>
                </a:solidFill>
                <a:latin typeface="Cambria" panose="02040503050406030204" pitchFamily="18" charset="0"/>
                <a:ea typeface="Cambria" panose="02040503050406030204" pitchFamily="18" charset="0"/>
              </a:rPr>
              <a:t>Marginal Farmers.</a:t>
            </a:r>
            <a:endParaRPr sz="32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IN" sz="1800" dirty="0"/>
              <a:t>CSG_42</a:t>
            </a:r>
          </a:p>
          <a:p>
            <a:pPr marL="0" lvl="0" indent="0" algn="l">
              <a:spcBef>
                <a:spcPts val="0"/>
              </a:spcBef>
            </a:pP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7226709" y="2721840"/>
            <a:ext cx="3254478" cy="1987812"/>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dirty="0">
                <a:solidFill>
                  <a:srgbClr val="FF0000"/>
                </a:solidFill>
                <a:latin typeface="Cambria" panose="02040503050406030204" pitchFamily="18" charset="0"/>
                <a:ea typeface="Cambria" panose="02040503050406030204" pitchFamily="18" charset="0"/>
                <a:sym typeface="Verdana"/>
              </a:rPr>
              <a:t>Ms</a:t>
            </a:r>
            <a:r>
              <a:rPr lang="en-GB" sz="1700" b="1" dirty="0">
                <a:solidFill>
                  <a:srgbClr val="17365D"/>
                </a:solidFill>
                <a:latin typeface="Cambria" panose="02040503050406030204" pitchFamily="18" charset="0"/>
                <a:ea typeface="Cambria" panose="02040503050406030204" pitchFamily="18" charset="0"/>
                <a:sym typeface="Verdana"/>
              </a:rPr>
              <a:t>.</a:t>
            </a:r>
            <a:r>
              <a:rPr lang="en-US" sz="1600" b="1" dirty="0">
                <a:solidFill>
                  <a:srgbClr val="FF0000"/>
                </a:solidFill>
                <a:latin typeface="Cambria" panose="02040503050406030204" pitchFamily="18" charset="0"/>
                <a:ea typeface="Cambria" panose="02040503050406030204" pitchFamily="18" charset="0"/>
                <a:cs typeface="Verdana"/>
                <a:sym typeface="Verdana"/>
              </a:rPr>
              <a:t>  Shet Reshma Prakash</a:t>
            </a:r>
            <a:endParaRPr lang="en-GB" sz="1600" dirty="0">
              <a:solidFill>
                <a:srgbClr val="FF0000"/>
              </a:solidFill>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651915129"/>
              </p:ext>
            </p:extLst>
          </p:nvPr>
        </p:nvGraphicFramePr>
        <p:xfrm>
          <a:off x="553347" y="2721840"/>
          <a:ext cx="5346008" cy="2194620"/>
        </p:xfrm>
        <a:graphic>
          <a:graphicData uri="http://schemas.openxmlformats.org/drawingml/2006/table">
            <a:tbl>
              <a:tblPr firstRow="1" bandRow="1">
                <a:noFill/>
                <a:tableStyleId>{57690726-49DA-4552-BDEB-330DD8EA8BD9}</a:tableStyleId>
              </a:tblPr>
              <a:tblGrid>
                <a:gridCol w="2266003">
                  <a:extLst>
                    <a:ext uri="{9D8B030D-6E8A-4147-A177-3AD203B41FA5}">
                      <a16:colId xmlns:a16="http://schemas.microsoft.com/office/drawing/2014/main" val="20000"/>
                    </a:ext>
                  </a:extLst>
                </a:gridCol>
                <a:gridCol w="3080005">
                  <a:extLst>
                    <a:ext uri="{9D8B030D-6E8A-4147-A177-3AD203B41FA5}">
                      <a16:colId xmlns:a16="http://schemas.microsoft.com/office/drawing/2014/main" val="20001"/>
                    </a:ext>
                  </a:extLst>
                </a:gridCol>
              </a:tblGrid>
              <a:tr h="30201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2010">
                <a:tc>
                  <a:txBody>
                    <a:bodyPr/>
                    <a:lstStyle/>
                    <a:p>
                      <a:pPr marL="0" marR="0" lvl="0" indent="0" algn="ctr" rtl="0">
                        <a:spcBef>
                          <a:spcPts val="0"/>
                        </a:spcBef>
                        <a:spcAft>
                          <a:spcPts val="0"/>
                        </a:spcAft>
                        <a:buFont typeface="+mj-lt"/>
                        <a:buNone/>
                      </a:pPr>
                      <a:r>
                        <a:rPr lang="en-IN" sz="1800" u="none" strike="noStrike" cap="none" dirty="0"/>
                        <a:t>20221CSG0153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NAVEEN M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2010">
                <a:tc>
                  <a:txBody>
                    <a:bodyPr/>
                    <a:lstStyle/>
                    <a:p>
                      <a:pPr marL="0" marR="0" lvl="0" indent="0" algn="ctr" rtl="0">
                        <a:spcBef>
                          <a:spcPts val="0"/>
                        </a:spcBef>
                        <a:spcAft>
                          <a:spcPts val="0"/>
                        </a:spcAft>
                        <a:buNone/>
                      </a:pPr>
                      <a:r>
                        <a:rPr lang="en-IN" sz="1800" u="none" strike="noStrike" cap="none" dirty="0"/>
                        <a:t>20221LCG0004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AVINASH N</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2010">
                <a:tc>
                  <a:txBody>
                    <a:bodyPr/>
                    <a:lstStyle/>
                    <a:p>
                      <a:pPr marL="0" marR="0" lvl="0" indent="0" algn="ctr" rtl="0">
                        <a:spcBef>
                          <a:spcPts val="0"/>
                        </a:spcBef>
                        <a:spcAft>
                          <a:spcPts val="0"/>
                        </a:spcAft>
                        <a:buNone/>
                      </a:pPr>
                      <a:r>
                        <a:rPr lang="en-IN" sz="1800" u="none" strike="noStrike" cap="none" dirty="0"/>
                        <a:t>20221LCG0005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u="none" strike="noStrike" cap="none" dirty="0"/>
                        <a:t>KURUBA ARUN KUMAR</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201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201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8849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CSG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pt-BR" sz="1800" b="1" dirty="0">
                <a:solidFill>
                  <a:srgbClr val="FF0000"/>
                </a:solidFill>
                <a:latin typeface="Cambria" panose="02040503050406030204" pitchFamily="18" charset="0"/>
                <a:ea typeface="Cambria" panose="02040503050406030204" pitchFamily="18" charset="0"/>
              </a:rPr>
              <a:t>Dr. Pallavi R </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solidFill>
                  <a:srgbClr val="FF0000"/>
                </a:solidFill>
                <a:latin typeface="Cambria" panose="02040503050406030204" pitchFamily="18" charset="0"/>
                <a:ea typeface="Cambria" panose="02040503050406030204" pitchFamily="18" charset="0"/>
              </a:rPr>
              <a:t>Ms. Benitha </a:t>
            </a:r>
            <a:r>
              <a:rPr lang="en-IN" sz="1800" b="1" dirty="0" err="1">
                <a:solidFill>
                  <a:srgbClr val="FF0000"/>
                </a:solidFill>
                <a:latin typeface="Cambria" panose="02040503050406030204" pitchFamily="18" charset="0"/>
                <a:ea typeface="Cambria" panose="02040503050406030204" pitchFamily="18" charset="0"/>
              </a:rPr>
              <a:t>Christinal</a:t>
            </a:r>
            <a:r>
              <a:rPr lang="en-IN" sz="1800" b="1" dirty="0">
                <a:solidFill>
                  <a:srgbClr val="FF0000"/>
                </a:solidFill>
                <a:latin typeface="Cambria" panose="02040503050406030204" pitchFamily="18" charset="0"/>
                <a:ea typeface="Cambria" panose="02040503050406030204" pitchFamily="18" charset="0"/>
              </a:rPr>
              <a:t> J</a:t>
            </a:r>
            <a:br>
              <a:rPr lang="en-IN" sz="1800" b="1" dirty="0">
                <a:solidFill>
                  <a:srgbClr val="FF0000"/>
                </a:solidFill>
                <a:latin typeface="Cambria" panose="02040503050406030204" pitchFamily="18" charset="0"/>
                <a:ea typeface="Cambria" panose="02040503050406030204" pitchFamily="18" charset="0"/>
              </a:rPr>
            </a:b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dirty="0">
                <a:solidFill>
                  <a:srgbClr val="FF0000"/>
                </a:solidFill>
                <a:latin typeface="Cambria" panose="02040503050406030204" pitchFamily="18" charset="0"/>
                <a:ea typeface="Cambria" panose="02040503050406030204" pitchFamily="18" charset="0"/>
                <a:cs typeface="Verdana"/>
                <a:sym typeface="Verdana"/>
              </a:rPr>
              <a:t>Dr. Sampath A K</a:t>
            </a:r>
            <a:endParaRPr sz="1800" b="1" i="0" u="none" strike="noStrike" cap="none" dirty="0">
              <a:solidFill>
                <a:srgbClr val="FF0000"/>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960019"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Abstract</a:t>
            </a:r>
          </a:p>
          <a:p>
            <a:pPr marL="960019"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Literature survey</a:t>
            </a:r>
          </a:p>
          <a:p>
            <a:pPr marL="960253"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Objectives</a:t>
            </a:r>
          </a:p>
          <a:p>
            <a:pPr marL="960221"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Existing methods and drawbacks</a:t>
            </a:r>
          </a:p>
          <a:p>
            <a:pPr marL="960253"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Architecture Diagram</a:t>
            </a:r>
          </a:p>
          <a:p>
            <a:pPr marL="960253"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Modules</a:t>
            </a:r>
          </a:p>
          <a:p>
            <a:pPr marL="960018"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Software details</a:t>
            </a:r>
          </a:p>
          <a:p>
            <a:pPr marL="960253"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Timeline</a:t>
            </a:r>
          </a:p>
          <a:p>
            <a:pPr marL="960253" lvl="2" indent="-457200" algn="just">
              <a:lnSpc>
                <a:spcPct val="170000"/>
              </a:lnSpc>
              <a:buFont typeface="Wingdings" panose="05000000000000000000" pitchFamily="2" charset="2"/>
              <a:buChar char="Ø"/>
            </a:pPr>
            <a:r>
              <a:rPr lang="en-US" sz="6200" b="1" dirty="0">
                <a:solidFill>
                  <a:srgbClr val="000000"/>
                </a:solidFill>
                <a:latin typeface="Times New Roman"/>
                <a:ea typeface="Times New Roman"/>
                <a:cs typeface="Times New Roman"/>
                <a:sym typeface="Times New Roman"/>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137651"/>
            <a:ext cx="10668000" cy="1327355"/>
          </a:xfrm>
          <a:prstGeom prst="rect">
            <a:avLst/>
          </a:prstGeom>
          <a:noFill/>
          <a:ln>
            <a:noFill/>
          </a:ln>
        </p:spPr>
        <p:txBody>
          <a:bodyPr spcFirstLastPara="1" wrap="square" lIns="91425" tIns="45700" rIns="91425" bIns="45700" anchor="ctr" anchorCtr="0">
            <a:noAutofit/>
          </a:bodyPr>
          <a:lstStyle/>
          <a:p>
            <a:r>
              <a:rPr lang="en-US" dirty="0">
                <a:solidFill>
                  <a:srgbClr val="000000"/>
                </a:solidFill>
                <a:latin typeface="Times New Roman"/>
                <a:ea typeface="Times New Roman"/>
                <a:cs typeface="Times New Roman"/>
                <a:sym typeface="Times New Roman"/>
              </a:rPr>
              <a:t>Abstract</a:t>
            </a:r>
            <a:br>
              <a:rPr lang="en-US" dirty="0">
                <a:solidFill>
                  <a:srgbClr val="000000"/>
                </a:solidFill>
                <a:latin typeface="Times New Roman"/>
                <a:ea typeface="Times New Roman"/>
                <a:cs typeface="Times New Roman"/>
                <a:sym typeface="Times New Roman"/>
              </a:rPr>
            </a:b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344128" y="1055398"/>
            <a:ext cx="11136671" cy="5231102"/>
          </a:xfrm>
          <a:prstGeom prst="rect">
            <a:avLst/>
          </a:prstGeom>
          <a:noFill/>
          <a:ln>
            <a:noFill/>
          </a:ln>
        </p:spPr>
        <p:txBody>
          <a:bodyPr spcFirstLastPara="1" wrap="square" lIns="91425" tIns="45700" rIns="91425" bIns="45700" anchor="t" anchorCtr="0">
            <a:normAutofit fontScale="85000" lnSpcReduction="20000"/>
          </a:bodyPr>
          <a:lstStyle/>
          <a:p>
            <a:pPr marL="342900" indent="-190500" algn="just">
              <a:lnSpc>
                <a:spcPct val="200000"/>
              </a:lnSpc>
              <a:spcBef>
                <a:spcPts val="0"/>
              </a:spcBef>
              <a:buNone/>
            </a:pPr>
            <a:r>
              <a:rPr lang="en-US" b="1" dirty="0" err="1">
                <a:latin typeface="Cambria" panose="02040503050406030204" pitchFamily="18" charset="0"/>
                <a:ea typeface="Cambria" panose="02040503050406030204" pitchFamily="18" charset="0"/>
              </a:rPr>
              <a:t>Farmekox</a:t>
            </a:r>
            <a:r>
              <a:rPr lang="en-US" dirty="0">
                <a:latin typeface="Cambria" panose="02040503050406030204" pitchFamily="18" charset="0"/>
                <a:ea typeface="Cambria" panose="02040503050406030204" pitchFamily="18" charset="0"/>
              </a:rPr>
              <a:t>:- is an AI-powered, mobile-first smart agricultural advisory platform designed to help farmers make data-driven decisions for better productivity and profitability. Farmers in regions like Karnataka often face challenges such as lack of timely information, inefficient irrigation practices, limited expert access, and unstable market </a:t>
            </a:r>
            <a:r>
              <a:rPr lang="en-US" dirty="0" err="1">
                <a:latin typeface="Cambria" panose="02040503050406030204" pitchFamily="18" charset="0"/>
                <a:ea typeface="Cambria" panose="02040503050406030204" pitchFamily="18" charset="0"/>
              </a:rPr>
              <a:t>prices.Farmekox</a:t>
            </a:r>
            <a:r>
              <a:rPr lang="en-US" dirty="0">
                <a:latin typeface="Cambria" panose="02040503050406030204" pitchFamily="18" charset="0"/>
                <a:ea typeface="Cambria" panose="02040503050406030204" pitchFamily="18" charset="0"/>
              </a:rPr>
              <a:t> integrates Google Gemini AI through the </a:t>
            </a:r>
            <a:r>
              <a:rPr lang="en-US" dirty="0" err="1">
                <a:latin typeface="Cambria" panose="02040503050406030204" pitchFamily="18" charset="0"/>
                <a:ea typeface="Cambria" panose="02040503050406030204" pitchFamily="18" charset="0"/>
              </a:rPr>
              <a:t>Genkit</a:t>
            </a:r>
            <a:r>
              <a:rPr lang="en-US" dirty="0">
                <a:latin typeface="Cambria" panose="02040503050406030204" pitchFamily="18" charset="0"/>
                <a:ea typeface="Cambria" panose="02040503050406030204" pitchFamily="18" charset="0"/>
              </a:rPr>
              <a:t> framework to provide location-aware crop recommendations, multilingual AI advisory (English and Kannada), real-time weather-based irrigation alerts, fertilizer guidance using barcode scanning, and a direct-to-consumer sales </a:t>
            </a:r>
            <a:r>
              <a:rPr lang="en-US" dirty="0" err="1">
                <a:latin typeface="Cambria" panose="02040503050406030204" pitchFamily="18" charset="0"/>
                <a:ea typeface="Cambria" panose="02040503050406030204" pitchFamily="18" charset="0"/>
              </a:rPr>
              <a:t>platform.By</a:t>
            </a:r>
            <a:r>
              <a:rPr lang="en-US" dirty="0">
                <a:latin typeface="Cambria" panose="02040503050406030204" pitchFamily="18" charset="0"/>
                <a:ea typeface="Cambria" panose="02040503050406030204" pitchFamily="18" charset="0"/>
              </a:rPr>
              <a:t> combining intelligent automation, cloud deployment, and real-time analytics into a single platform, </a:t>
            </a:r>
            <a:r>
              <a:rPr lang="en-US" dirty="0" err="1">
                <a:latin typeface="Cambria" panose="02040503050406030204" pitchFamily="18" charset="0"/>
                <a:ea typeface="Cambria" panose="02040503050406030204" pitchFamily="18" charset="0"/>
              </a:rPr>
              <a:t>Farmekox</a:t>
            </a:r>
            <a:r>
              <a:rPr lang="en-US" dirty="0">
                <a:latin typeface="Cambria" panose="02040503050406030204" pitchFamily="18" charset="0"/>
                <a:ea typeface="Cambria" panose="02040503050406030204" pitchFamily="18" charset="0"/>
              </a:rPr>
              <a:t> aims to improve crop yield, reduce operational costs, and promote sustainable farming practices</a:t>
            </a: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307780" y="523534"/>
            <a:ext cx="10668000" cy="1708389"/>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solidFill>
                  <a:srgbClr val="000000"/>
                </a:solidFill>
                <a:latin typeface="Times New Roman"/>
                <a:ea typeface="Times New Roman"/>
                <a:cs typeface="Times New Roman"/>
                <a:sym typeface="Times New Roman"/>
              </a:rPr>
              <a:t>Literature survey</a:t>
            </a:r>
            <a:br>
              <a:rPr lang="en-US" dirty="0">
                <a:solidFill>
                  <a:srgbClr val="000000"/>
                </a:solidFill>
                <a:latin typeface="Times New Roman"/>
                <a:ea typeface="Times New Roman"/>
                <a:cs typeface="Times New Roman"/>
                <a:sym typeface="Times New Roman"/>
              </a:rPr>
            </a:b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993058"/>
            <a:ext cx="10668000" cy="5240594"/>
          </a:xfrm>
          <a:prstGeom prst="rect">
            <a:avLst/>
          </a:prstGeom>
          <a:noFill/>
          <a:ln>
            <a:noFill/>
          </a:ln>
        </p:spPr>
        <p:txBody>
          <a:bodyPr spcFirstLastPara="1" wrap="square" lIns="91425" tIns="45700" rIns="91425" bIns="45700" anchor="t" anchorCtr="0">
            <a:noAutofit/>
          </a:bodyPr>
          <a:lstStyle/>
          <a:p>
            <a:r>
              <a:rPr lang="en-US" sz="1600" dirty="0">
                <a:latin typeface="Aptos" panose="020B0004020202020204" pitchFamily="34" charset="0"/>
              </a:rPr>
              <a:t>The present, day AI in agriculture is on its way to "Hybrid Intelligence" but still, most of it is physically tethered to the infrastructure. </a:t>
            </a:r>
            <a:r>
              <a:rPr lang="en-US" sz="1600" dirty="0" err="1">
                <a:latin typeface="Aptos" panose="020B0004020202020204" pitchFamily="34" charset="0"/>
              </a:rPr>
              <a:t>Elbasi</a:t>
            </a:r>
            <a:r>
              <a:rPr lang="en-US" sz="1600" dirty="0">
                <a:latin typeface="Aptos" panose="020B0004020202020204" pitchFamily="34" charset="0"/>
              </a:rPr>
              <a:t> et al. (2023) pinpointed that, although AI technologies such as Natural Language Processing (NLP) have tremendously evolved, the application of these in agriculture is often lacking a cohesive user interface that the rural population can easily use.</a:t>
            </a:r>
          </a:p>
          <a:p>
            <a:r>
              <a:rPr lang="en-US" sz="1600" dirty="0">
                <a:latin typeface="Aptos" panose="020B0004020202020204" pitchFamily="34" charset="0"/>
              </a:rPr>
              <a:t>Our research is built on the basis of Khaliq et al. (2025) who found that AI, integrated solutions can highly optimize the process of soil, crop matching. Nevertheless, the main problem with their model is that it heavily depends on lab, verified soil data, which prevents the model from being used instantly in the fields of remote Indian villages. In a similar way, </a:t>
            </a:r>
            <a:r>
              <a:rPr lang="en-US" sz="1600" dirty="0" err="1">
                <a:latin typeface="Aptos" panose="020B0004020202020204" pitchFamily="34" charset="0"/>
              </a:rPr>
              <a:t>Chantima</a:t>
            </a:r>
            <a:r>
              <a:rPr lang="en-US" sz="1600" dirty="0">
                <a:latin typeface="Aptos" panose="020B0004020202020204" pitchFamily="34" charset="0"/>
              </a:rPr>
              <a:t> et al. (2025) devised an efficient solution through the utilization of embedded sensors and Random Forest Regressors, which did reach the notable accuracy level but the expensive hardware cost made it out of reach for the marginal farmers.</a:t>
            </a:r>
          </a:p>
          <a:p>
            <a:r>
              <a:rPr lang="en-US" sz="1600" dirty="0">
                <a:latin typeface="Aptos" panose="020B0004020202020204" pitchFamily="34" charset="0"/>
              </a:rPr>
              <a:t>One more challenge is the "Black Box" character of these systems. Martin et al. (2024) have stressed that for AI to be embraced by the agriculture community, it has to be "Explainable". From their investigation of the XAI, powered frameworks, they found that giving the "Reason" for a certain crop (for instance, by explaining that Ragi is suggested due to high rainfall and low nitrogen) lead to an increase in the adoption rate of more than 30%.</a:t>
            </a:r>
          </a:p>
          <a:p>
            <a:r>
              <a:rPr lang="en-US" sz="1600" dirty="0">
                <a:latin typeface="Aptos" panose="020B0004020202020204" pitchFamily="34" charset="0"/>
              </a:rPr>
              <a:t>At last, Liu et al. (2025) and Patel et al. (2025) examined fertilizer management systems and concluded that majority of the present, day solutions hardly consider the low, bandwidth (2G/3G) environments which are quite common in rural India. </a:t>
            </a:r>
            <a:r>
              <a:rPr lang="en-US" sz="1600" dirty="0" err="1">
                <a:latin typeface="Aptos" panose="020B0004020202020204" pitchFamily="34" charset="0"/>
              </a:rPr>
              <a:t>FarmEkoX</a:t>
            </a:r>
            <a:r>
              <a:rPr lang="en-US" sz="1600" dirty="0">
                <a:latin typeface="Aptos" panose="020B0004020202020204" pitchFamily="34" charset="0"/>
              </a:rPr>
              <a:t> closes these loopholes by merging the soil, matching logic of the seminal paper with GAN, based simulation, XAI transparency, and a lightweight Node.js architecture specifically geared for mobile web access.</a:t>
            </a:r>
            <a:endParaRPr sz="1600" dirty="0">
              <a:latin typeface="Aptos" panose="020B0004020202020204" pitchFamily="34" charset="0"/>
              <a:ea typeface="Cambria" panose="02040503050406030204" pitchFamily="18" charset="0"/>
            </a:endParaRPr>
          </a:p>
        </p:txBody>
      </p:sp>
    </p:spTree>
    <p:extLst>
      <p:ext uri="{BB962C8B-B14F-4D97-AF65-F5344CB8AC3E}">
        <p14:creationId xmlns:p14="http://schemas.microsoft.com/office/powerpoint/2010/main" val="3460353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70265"/>
            <a:ext cx="10668000" cy="4810990"/>
          </a:xfrm>
          <a:prstGeom prst="rect">
            <a:avLst/>
          </a:prstGeom>
          <a:noFill/>
          <a:ln>
            <a:noFill/>
          </a:ln>
        </p:spPr>
        <p:txBody>
          <a:bodyPr spcFirstLastPara="1" wrap="square" lIns="91425" tIns="45700" rIns="91425" bIns="45700" anchor="t" anchorCtr="0">
            <a:normAutofit/>
          </a:bodyPr>
          <a:lstStyle/>
          <a:p>
            <a:pPr marL="152400" lvl="0" indent="0" algn="just" rtl="0">
              <a:lnSpc>
                <a:spcPct val="200000"/>
              </a:lnSpc>
              <a:spcBef>
                <a:spcPts val="0"/>
              </a:spcBef>
              <a:spcAft>
                <a:spcPts val="0"/>
              </a:spcAft>
              <a:buClr>
                <a:schemeClr val="dk1"/>
              </a:buClr>
              <a:buSzPts val="2400"/>
              <a:buNone/>
            </a:pP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3A06FA59-24D9-3841-0FD2-5F929838EDE3}"/>
              </a:ext>
            </a:extLst>
          </p:cNvPr>
          <p:cNvSpPr txBox="1"/>
          <p:nvPr/>
        </p:nvSpPr>
        <p:spPr>
          <a:xfrm>
            <a:off x="812800" y="1743996"/>
            <a:ext cx="11094065" cy="3631763"/>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t> Develop an AI-driven crop recommendation system based on location, climate, and season.</a:t>
            </a:r>
          </a:p>
          <a:p>
            <a:pPr marL="342900" indent="-342900">
              <a:buFont typeface="Wingdings" panose="05000000000000000000" pitchFamily="2" charset="2"/>
              <a:buChar char="Ø"/>
            </a:pPr>
            <a:r>
              <a:rPr lang="en-US" sz="2400" dirty="0"/>
              <a:t> Build a multilingual AI advisory platform supporting English and Kannada.</a:t>
            </a:r>
          </a:p>
          <a:p>
            <a:pPr marL="342900" indent="-342900">
              <a:buFont typeface="Wingdings" panose="05000000000000000000" pitchFamily="2" charset="2"/>
              <a:buChar char="Ø"/>
            </a:pPr>
            <a:r>
              <a:rPr lang="en-US" sz="2400" dirty="0"/>
              <a:t> Provide weather-based irrigation guidance for water optimization.</a:t>
            </a:r>
          </a:p>
          <a:p>
            <a:pPr marL="342900" indent="-342900">
              <a:buFont typeface="Wingdings" panose="05000000000000000000" pitchFamily="2" charset="2"/>
              <a:buChar char="Ø"/>
            </a:pPr>
            <a:r>
              <a:rPr lang="en-US" sz="2400" dirty="0"/>
              <a:t>Implement a fertilizer calculator with dosage and usage recommendations.</a:t>
            </a:r>
          </a:p>
          <a:p>
            <a:pPr marL="342900" indent="-342900">
              <a:buFont typeface="Wingdings" panose="05000000000000000000" pitchFamily="2" charset="2"/>
              <a:buChar char="Ø"/>
            </a:pPr>
            <a:r>
              <a:rPr lang="en-US" sz="2400" dirty="0"/>
              <a:t>Create a direct sales platform to connect farmers with nearby buyers.</a:t>
            </a:r>
          </a:p>
          <a:p>
            <a:pPr marL="342900" indent="-342900">
              <a:buFont typeface="Wingdings" panose="05000000000000000000" pitchFamily="2" charset="2"/>
              <a:buChar char="Ø"/>
            </a:pPr>
            <a:r>
              <a:rPr lang="en-US" sz="2400" dirty="0"/>
              <a:t> Provide real-time mandi price updates through the Market Watch module.</a:t>
            </a:r>
          </a:p>
          <a:p>
            <a:pPr marL="342900" indent="-342900">
              <a:buFont typeface="Wingdings" panose="05000000000000000000" pitchFamily="2" charset="2"/>
              <a:buChar char="Ø"/>
            </a:pPr>
            <a:r>
              <a:rPr lang="en-US" sz="2400" dirty="0"/>
              <a:t> Design a mobile-first responsive interface for easy farmer accessibility.</a:t>
            </a:r>
          </a:p>
          <a:p>
            <a:pPr marL="342900" indent="-342900">
              <a:buFont typeface="Wingdings" panose="05000000000000000000" pitchFamily="2" charset="2"/>
              <a:buChar char="Ø"/>
            </a:pPr>
            <a:r>
              <a:rPr lang="en-US" sz="2400" dirty="0"/>
              <a:t> Enable location-based resource discovery using Google Maps integration.</a:t>
            </a:r>
          </a:p>
          <a:p>
            <a:pPr marL="342900" indent="-342900">
              <a:buFont typeface="Wingdings" panose="05000000000000000000" pitchFamily="2" charset="2"/>
              <a:buChar char="Ø"/>
            </a:pPr>
            <a:endParaRPr lang="en-US" dirty="0"/>
          </a:p>
        </p:txBody>
      </p:sp>
    </p:spTree>
    <p:extLst>
      <p:ext uri="{BB962C8B-B14F-4D97-AF65-F5344CB8AC3E}">
        <p14:creationId xmlns:p14="http://schemas.microsoft.com/office/powerpoint/2010/main" val="2637979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CD95-CB26-F630-3E12-0E111715D6BA}"/>
              </a:ext>
            </a:extLst>
          </p:cNvPr>
          <p:cNvSpPr>
            <a:spLocks noGrp="1"/>
          </p:cNvSpPr>
          <p:nvPr>
            <p:ph type="title"/>
          </p:nvPr>
        </p:nvSpPr>
        <p:spPr>
          <a:xfrm>
            <a:off x="812800" y="274638"/>
            <a:ext cx="10668000" cy="1082214"/>
          </a:xfrm>
        </p:spPr>
        <p:txBody>
          <a:bodyPr/>
          <a:lstStyle/>
          <a:p>
            <a:r>
              <a:rPr lang="en-US" dirty="0">
                <a:solidFill>
                  <a:srgbClr val="000000"/>
                </a:solidFill>
                <a:latin typeface="Times New Roman"/>
                <a:ea typeface="Times New Roman"/>
                <a:cs typeface="Times New Roman"/>
                <a:sym typeface="Times New Roman"/>
              </a:rPr>
              <a:t>Existing methods and drawbacks</a:t>
            </a:r>
            <a:br>
              <a:rPr lang="en-US" dirty="0">
                <a:solidFill>
                  <a:srgbClr val="000000"/>
                </a:solidFill>
                <a:latin typeface="Times New Roman"/>
                <a:ea typeface="Times New Roman"/>
                <a:cs typeface="Times New Roman"/>
                <a:sym typeface="Times New Roman"/>
              </a:rPr>
            </a:br>
            <a:endParaRPr lang="en-IN" dirty="0"/>
          </a:p>
        </p:txBody>
      </p:sp>
      <p:sp>
        <p:nvSpPr>
          <p:cNvPr id="3" name="Text Placeholder 2">
            <a:extLst>
              <a:ext uri="{FF2B5EF4-FFF2-40B4-BE49-F238E27FC236}">
                <a16:creationId xmlns:a16="http://schemas.microsoft.com/office/drawing/2014/main" id="{4222260A-8AFA-3568-4D5B-7CB48D92DA4D}"/>
              </a:ext>
            </a:extLst>
          </p:cNvPr>
          <p:cNvSpPr>
            <a:spLocks noGrp="1"/>
          </p:cNvSpPr>
          <p:nvPr>
            <p:ph type="body" idx="1"/>
          </p:nvPr>
        </p:nvSpPr>
        <p:spPr/>
        <p:txBody>
          <a:bodyPr>
            <a:normAutofit/>
          </a:bodyPr>
          <a:lstStyle/>
          <a:p>
            <a:pPr marL="76200" indent="0">
              <a:lnSpc>
                <a:spcPct val="150000"/>
              </a:lnSpc>
              <a:buNone/>
            </a:pPr>
            <a:r>
              <a:rPr lang="en-US" sz="3600" b="1" dirty="0">
                <a:latin typeface="Aptos" panose="020B0004020202020204" pitchFamily="34" charset="0"/>
              </a:rPr>
              <a:t>Existing Methods:</a:t>
            </a:r>
          </a:p>
          <a:p>
            <a:pPr>
              <a:lnSpc>
                <a:spcPct val="150000"/>
              </a:lnSpc>
            </a:pPr>
            <a:r>
              <a:rPr lang="en-US" sz="3600" dirty="0">
                <a:latin typeface="Aptos" panose="020B0004020202020204" pitchFamily="34" charset="0"/>
              </a:rPr>
              <a:t> Farmers depend on manual advisory services</a:t>
            </a:r>
          </a:p>
          <a:p>
            <a:pPr>
              <a:lnSpc>
                <a:spcPct val="150000"/>
              </a:lnSpc>
            </a:pPr>
            <a:r>
              <a:rPr lang="en-US" sz="3600" dirty="0">
                <a:latin typeface="Aptos" panose="020B0004020202020204" pitchFamily="34" charset="0"/>
              </a:rPr>
              <a:t> Use multiple apps for weather, pricing, and crop guidance</a:t>
            </a:r>
          </a:p>
          <a:p>
            <a:pPr>
              <a:lnSpc>
                <a:spcPct val="150000"/>
              </a:lnSpc>
            </a:pPr>
            <a:r>
              <a:rPr lang="en-US" sz="3600" dirty="0">
                <a:latin typeface="Aptos" panose="020B0004020202020204" pitchFamily="34" charset="0"/>
              </a:rPr>
              <a:t> Traditional selling through middlemen</a:t>
            </a:r>
            <a:endParaRPr lang="en-IN" sz="3600" dirty="0">
              <a:latin typeface="Aptos" panose="020B0004020202020204" pitchFamily="34" charset="0"/>
            </a:endParaRPr>
          </a:p>
        </p:txBody>
      </p:sp>
    </p:spTree>
    <p:extLst>
      <p:ext uri="{BB962C8B-B14F-4D97-AF65-F5344CB8AC3E}">
        <p14:creationId xmlns:p14="http://schemas.microsoft.com/office/powerpoint/2010/main" val="26563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2D05B-B0F6-A478-DE67-DFB061069E21}"/>
              </a:ext>
            </a:extLst>
          </p:cNvPr>
          <p:cNvSpPr>
            <a:spLocks noGrp="1"/>
          </p:cNvSpPr>
          <p:nvPr>
            <p:ph type="title"/>
          </p:nvPr>
        </p:nvSpPr>
        <p:spPr>
          <a:xfrm>
            <a:off x="812800" y="274638"/>
            <a:ext cx="10668000" cy="1101878"/>
          </a:xfrm>
        </p:spPr>
        <p:txBody>
          <a:bodyPr/>
          <a:lstStyle/>
          <a:p>
            <a:r>
              <a:rPr lang="en-US" dirty="0">
                <a:solidFill>
                  <a:srgbClr val="000000"/>
                </a:solidFill>
                <a:latin typeface="Times New Roman"/>
                <a:ea typeface="Times New Roman"/>
                <a:cs typeface="Times New Roman"/>
                <a:sym typeface="Times New Roman"/>
              </a:rPr>
              <a:t>Existing methods and drawbacks</a:t>
            </a:r>
            <a:br>
              <a:rPr lang="en-US" dirty="0">
                <a:solidFill>
                  <a:srgbClr val="000000"/>
                </a:solidFill>
                <a:latin typeface="Times New Roman"/>
                <a:ea typeface="Times New Roman"/>
                <a:cs typeface="Times New Roman"/>
                <a:sym typeface="Times New Roman"/>
              </a:rPr>
            </a:br>
            <a:endParaRPr lang="en-IN" dirty="0"/>
          </a:p>
        </p:txBody>
      </p:sp>
      <p:sp>
        <p:nvSpPr>
          <p:cNvPr id="3" name="Text Placeholder 2">
            <a:extLst>
              <a:ext uri="{FF2B5EF4-FFF2-40B4-BE49-F238E27FC236}">
                <a16:creationId xmlns:a16="http://schemas.microsoft.com/office/drawing/2014/main" id="{F01C1081-CF49-CD53-9D42-59E4F970FF44}"/>
              </a:ext>
            </a:extLst>
          </p:cNvPr>
          <p:cNvSpPr>
            <a:spLocks noGrp="1"/>
          </p:cNvSpPr>
          <p:nvPr>
            <p:ph type="body" idx="1"/>
          </p:nvPr>
        </p:nvSpPr>
        <p:spPr/>
        <p:txBody>
          <a:bodyPr/>
          <a:lstStyle/>
          <a:p>
            <a:pPr marL="76200" indent="0">
              <a:buNone/>
            </a:pPr>
            <a:r>
              <a:rPr lang="en-US" b="1" dirty="0"/>
              <a:t>Drawbacks:</a:t>
            </a:r>
          </a:p>
          <a:p>
            <a:pPr>
              <a:lnSpc>
                <a:spcPct val="150000"/>
              </a:lnSpc>
            </a:pPr>
            <a:r>
              <a:rPr lang="en-US" sz="3200" dirty="0"/>
              <a:t> Fragmented platforms and poor integration</a:t>
            </a:r>
          </a:p>
          <a:p>
            <a:pPr>
              <a:lnSpc>
                <a:spcPct val="150000"/>
              </a:lnSpc>
            </a:pPr>
            <a:r>
              <a:rPr lang="en-US" sz="3200" dirty="0"/>
              <a:t> Lack of real-time updates</a:t>
            </a:r>
          </a:p>
          <a:p>
            <a:pPr>
              <a:lnSpc>
                <a:spcPct val="150000"/>
              </a:lnSpc>
            </a:pPr>
            <a:r>
              <a:rPr lang="en-US" sz="3200" dirty="0"/>
              <a:t> No AI-powered decision support</a:t>
            </a:r>
          </a:p>
          <a:p>
            <a:pPr>
              <a:lnSpc>
                <a:spcPct val="150000"/>
              </a:lnSpc>
            </a:pPr>
            <a:r>
              <a:rPr lang="en-US" sz="3200" dirty="0"/>
              <a:t> Language barriers</a:t>
            </a:r>
          </a:p>
          <a:p>
            <a:pPr>
              <a:lnSpc>
                <a:spcPct val="150000"/>
              </a:lnSpc>
            </a:pPr>
            <a:r>
              <a:rPr lang="en-US" sz="3200" dirty="0"/>
              <a:t> Reduced farmer profit margins</a:t>
            </a:r>
            <a:endParaRPr lang="en-IN" sz="3200" dirty="0"/>
          </a:p>
        </p:txBody>
      </p:sp>
    </p:spTree>
    <p:extLst>
      <p:ext uri="{BB962C8B-B14F-4D97-AF65-F5344CB8AC3E}">
        <p14:creationId xmlns:p14="http://schemas.microsoft.com/office/powerpoint/2010/main" val="2672058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1819-41D3-8165-12DD-9FE51F493DF6}"/>
              </a:ext>
            </a:extLst>
          </p:cNvPr>
          <p:cNvSpPr>
            <a:spLocks noGrp="1"/>
          </p:cNvSpPr>
          <p:nvPr>
            <p:ph type="title"/>
          </p:nvPr>
        </p:nvSpPr>
        <p:spPr>
          <a:xfrm>
            <a:off x="812800" y="274637"/>
            <a:ext cx="10668000" cy="1062549"/>
          </a:xfrm>
        </p:spPr>
        <p:txBody>
          <a:bodyPr/>
          <a:lstStyle/>
          <a:p>
            <a:r>
              <a:rPr lang="en-US" dirty="0">
                <a:solidFill>
                  <a:srgbClr val="000000"/>
                </a:solidFill>
                <a:latin typeface="Times New Roman"/>
                <a:ea typeface="Times New Roman"/>
                <a:cs typeface="Times New Roman"/>
                <a:sym typeface="Times New Roman"/>
              </a:rPr>
              <a:t>Architecture Diagram</a:t>
            </a:r>
            <a:br>
              <a:rPr lang="en-US" dirty="0">
                <a:solidFill>
                  <a:srgbClr val="000000"/>
                </a:solidFill>
                <a:latin typeface="Times New Roman"/>
                <a:ea typeface="Times New Roman"/>
                <a:cs typeface="Times New Roman"/>
                <a:sym typeface="Times New Roman"/>
              </a:rPr>
            </a:br>
            <a:endParaRPr lang="en-IN" dirty="0"/>
          </a:p>
        </p:txBody>
      </p:sp>
      <p:sp>
        <p:nvSpPr>
          <p:cNvPr id="3" name="Text Placeholder 2">
            <a:extLst>
              <a:ext uri="{FF2B5EF4-FFF2-40B4-BE49-F238E27FC236}">
                <a16:creationId xmlns:a16="http://schemas.microsoft.com/office/drawing/2014/main" id="{93AFF52E-0089-EB1D-2E0C-ECFF997EEA7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AD6EAAA9-03CC-6461-CB94-0B92BF601534}"/>
              </a:ext>
            </a:extLst>
          </p:cNvPr>
          <p:cNvPicPr>
            <a:picLocks noChangeAspect="1"/>
          </p:cNvPicPr>
          <p:nvPr/>
        </p:nvPicPr>
        <p:blipFill>
          <a:blip r:embed="rId2"/>
          <a:stretch>
            <a:fillRect/>
          </a:stretch>
        </p:blipFill>
        <p:spPr>
          <a:xfrm>
            <a:off x="812799" y="1143000"/>
            <a:ext cx="10667999" cy="4953001"/>
          </a:xfrm>
          <a:prstGeom prst="rect">
            <a:avLst/>
          </a:prstGeom>
        </p:spPr>
      </p:pic>
    </p:spTree>
    <p:extLst>
      <p:ext uri="{BB962C8B-B14F-4D97-AF65-F5344CB8AC3E}">
        <p14:creationId xmlns:p14="http://schemas.microsoft.com/office/powerpoint/2010/main" val="2023950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F0CD-A944-A559-8C8B-430BC6D6C6C6}"/>
              </a:ext>
            </a:extLst>
          </p:cNvPr>
          <p:cNvSpPr>
            <a:spLocks noGrp="1"/>
          </p:cNvSpPr>
          <p:nvPr>
            <p:ph type="title"/>
          </p:nvPr>
        </p:nvSpPr>
        <p:spPr/>
        <p:txBody>
          <a:bodyPr/>
          <a:lstStyle/>
          <a:p>
            <a:r>
              <a:rPr lang="en-IN" b="0" dirty="0"/>
              <a:t>PROPOSED METHODOLOGY</a:t>
            </a:r>
          </a:p>
        </p:txBody>
      </p:sp>
      <p:sp>
        <p:nvSpPr>
          <p:cNvPr id="3" name="Text Placeholder 2">
            <a:extLst>
              <a:ext uri="{FF2B5EF4-FFF2-40B4-BE49-F238E27FC236}">
                <a16:creationId xmlns:a16="http://schemas.microsoft.com/office/drawing/2014/main" id="{641D1774-5C57-AD8F-8B33-7B5644895A75}"/>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E7623C4-A16D-3B74-652D-396E0FCFB011}"/>
              </a:ext>
            </a:extLst>
          </p:cNvPr>
          <p:cNvPicPr>
            <a:picLocks noChangeAspect="1"/>
          </p:cNvPicPr>
          <p:nvPr/>
        </p:nvPicPr>
        <p:blipFill>
          <a:blip r:embed="rId2"/>
          <a:stretch>
            <a:fillRect/>
          </a:stretch>
        </p:blipFill>
        <p:spPr>
          <a:xfrm>
            <a:off x="812801" y="1143000"/>
            <a:ext cx="10566400" cy="4953001"/>
          </a:xfrm>
          <a:prstGeom prst="rect">
            <a:avLst/>
          </a:prstGeom>
        </p:spPr>
      </p:pic>
    </p:spTree>
    <p:extLst>
      <p:ext uri="{BB962C8B-B14F-4D97-AF65-F5344CB8AC3E}">
        <p14:creationId xmlns:p14="http://schemas.microsoft.com/office/powerpoint/2010/main" val="1935208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7"/>
            <a:ext cx="10668000" cy="679091"/>
          </a:xfrm>
          <a:prstGeom prst="rect">
            <a:avLst/>
          </a:prstGeom>
          <a:noFill/>
          <a:ln>
            <a:noFill/>
          </a:ln>
        </p:spPr>
        <p:txBody>
          <a:bodyPr spcFirstLastPara="1" wrap="square" lIns="91425" tIns="45700" rIns="91425" bIns="45700" anchor="ctr" anchorCtr="0">
            <a:noAutofit/>
          </a:bodyPr>
          <a:lstStyle/>
          <a:p>
            <a:pPr marL="503053" lvl="2" algn="just">
              <a:lnSpc>
                <a:spcPct val="170000"/>
              </a:lnSpc>
            </a:pPr>
            <a:r>
              <a:rPr lang="en-US" sz="3200" dirty="0">
                <a:latin typeface="Times New Roman"/>
                <a:ea typeface="Times New Roman"/>
                <a:cs typeface="Times New Roman"/>
                <a:sym typeface="Times New Roman"/>
              </a:rPr>
              <a:t> MODULES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err="1">
                <a:latin typeface="Cambria" panose="02040503050406030204" pitchFamily="18" charset="0"/>
                <a:ea typeface="Cambria" panose="02040503050406030204" pitchFamily="18" charset="0"/>
              </a:rPr>
              <a:t>Farmekox</a:t>
            </a:r>
            <a:r>
              <a:rPr lang="en-US" b="1" dirty="0">
                <a:latin typeface="Cambria" panose="02040503050406030204" pitchFamily="18" charset="0"/>
                <a:ea typeface="Cambria" panose="02040503050406030204" pitchFamily="18" charset="0"/>
              </a:rPr>
              <a:t> consists of the following modules:</a:t>
            </a:r>
          </a:p>
          <a:p>
            <a:pPr marL="533400" indent="-457200">
              <a:buFont typeface="+mj-lt"/>
              <a:buAutoNum type="arabicPeriod"/>
            </a:pPr>
            <a:r>
              <a:rPr lang="en-US" dirty="0">
                <a:latin typeface="Cambria" panose="02040503050406030204" pitchFamily="18" charset="0"/>
                <a:ea typeface="Cambria" panose="02040503050406030204" pitchFamily="18" charset="0"/>
              </a:rPr>
              <a:t>Dashboard</a:t>
            </a:r>
          </a:p>
          <a:p>
            <a:pPr marL="533400" indent="-457200">
              <a:buFont typeface="+mj-lt"/>
              <a:buAutoNum type="arabicPeriod"/>
            </a:pPr>
            <a:r>
              <a:rPr lang="en-US" dirty="0">
                <a:latin typeface="Cambria" panose="02040503050406030204" pitchFamily="18" charset="0"/>
                <a:ea typeface="Cambria" panose="02040503050406030204" pitchFamily="18" charset="0"/>
              </a:rPr>
              <a:t>Crop Recommendation</a:t>
            </a:r>
          </a:p>
          <a:p>
            <a:pPr marL="533400" indent="-457200">
              <a:buFont typeface="+mj-lt"/>
              <a:buAutoNum type="arabicPeriod"/>
            </a:pPr>
            <a:r>
              <a:rPr lang="en-US" dirty="0">
                <a:latin typeface="Cambria" panose="02040503050406030204" pitchFamily="18" charset="0"/>
                <a:ea typeface="Cambria" panose="02040503050406030204" pitchFamily="18" charset="0"/>
              </a:rPr>
              <a:t>Crop Calendar</a:t>
            </a:r>
          </a:p>
          <a:p>
            <a:pPr marL="533400" indent="-457200">
              <a:buFont typeface="+mj-lt"/>
              <a:buAutoNum type="arabicPeriod"/>
            </a:pPr>
            <a:r>
              <a:rPr lang="en-US" dirty="0">
                <a:latin typeface="Cambria" panose="02040503050406030204" pitchFamily="18" charset="0"/>
                <a:ea typeface="Cambria" panose="02040503050406030204" pitchFamily="18" charset="0"/>
              </a:rPr>
              <a:t>Weather &amp; Irrigation</a:t>
            </a:r>
          </a:p>
          <a:p>
            <a:pPr marL="533400" indent="-457200">
              <a:buFont typeface="+mj-lt"/>
              <a:buAutoNum type="arabicPeriod"/>
            </a:pPr>
            <a:r>
              <a:rPr lang="en-US" dirty="0">
                <a:latin typeface="Cambria" panose="02040503050406030204" pitchFamily="18" charset="0"/>
                <a:ea typeface="Cambria" panose="02040503050406030204" pitchFamily="18" charset="0"/>
              </a:rPr>
              <a:t>Fertilizer Calculator</a:t>
            </a:r>
          </a:p>
          <a:p>
            <a:pPr marL="533400" indent="-457200">
              <a:buFont typeface="+mj-lt"/>
              <a:buAutoNum type="arabicPeriod"/>
            </a:pPr>
            <a:r>
              <a:rPr lang="en-US" dirty="0">
                <a:latin typeface="Cambria" panose="02040503050406030204" pitchFamily="18" charset="0"/>
                <a:ea typeface="Cambria" panose="02040503050406030204" pitchFamily="18" charset="0"/>
              </a:rPr>
              <a:t>Market Watch</a:t>
            </a:r>
          </a:p>
          <a:p>
            <a:pPr marL="533400" indent="-457200">
              <a:buFont typeface="+mj-lt"/>
              <a:buAutoNum type="arabicPeriod"/>
            </a:pPr>
            <a:r>
              <a:rPr lang="en-US" dirty="0">
                <a:latin typeface="Cambria" panose="02040503050406030204" pitchFamily="18" charset="0"/>
                <a:ea typeface="Cambria" panose="02040503050406030204" pitchFamily="18" charset="0"/>
              </a:rPr>
              <a:t>AI Advisory</a:t>
            </a:r>
          </a:p>
          <a:p>
            <a:pPr marL="533400" indent="-457200">
              <a:buFont typeface="+mj-lt"/>
              <a:buAutoNum type="arabicPeriod"/>
            </a:pPr>
            <a:r>
              <a:rPr lang="en-US" dirty="0">
                <a:latin typeface="Cambria" panose="02040503050406030204" pitchFamily="18" charset="0"/>
                <a:ea typeface="Cambria" panose="02040503050406030204" pitchFamily="18" charset="0"/>
              </a:rPr>
              <a:t>Ask an Expert</a:t>
            </a:r>
          </a:p>
          <a:p>
            <a:pPr marL="533400" indent="-457200">
              <a:buFont typeface="+mj-lt"/>
              <a:buAutoNum type="arabicPeriod"/>
            </a:pPr>
            <a:r>
              <a:rPr lang="en-US" dirty="0">
                <a:latin typeface="Cambria" panose="02040503050406030204" pitchFamily="18" charset="0"/>
                <a:ea typeface="Cambria" panose="02040503050406030204" pitchFamily="18" charset="0"/>
              </a:rPr>
              <a:t>Nearby Resources</a:t>
            </a:r>
          </a:p>
          <a:p>
            <a:pPr marL="533400" indent="-457200">
              <a:buFont typeface="+mj-lt"/>
              <a:buAutoNum type="arabicPeriod"/>
            </a:pPr>
            <a:r>
              <a:rPr lang="en-US" dirty="0">
                <a:latin typeface="Cambria" panose="02040503050406030204" pitchFamily="18" charset="0"/>
                <a:ea typeface="Cambria" panose="02040503050406030204" pitchFamily="18" charset="0"/>
              </a:rPr>
              <a:t> Direct Sales</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05354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88109" y="274499"/>
            <a:ext cx="10668000" cy="600571"/>
          </a:xfrm>
          <a:prstGeom prst="rect">
            <a:avLst/>
          </a:prstGeom>
          <a:noFill/>
          <a:ln>
            <a:noFill/>
          </a:ln>
        </p:spPr>
        <p:txBody>
          <a:bodyPr spcFirstLastPara="1" wrap="square" lIns="91425" tIns="45700" rIns="91425" bIns="45700" anchor="ctr" anchorCtr="0">
            <a:noAutofit/>
          </a:bodyPr>
          <a:lstStyle/>
          <a:p>
            <a:pPr marL="502818" lvl="2" algn="just">
              <a:lnSpc>
                <a:spcPct val="170000"/>
              </a:lnSpc>
            </a:pPr>
            <a:r>
              <a:rPr lang="en-US" sz="4000" dirty="0">
                <a:latin typeface="Times New Roman"/>
                <a:ea typeface="Times New Roman"/>
                <a:cs typeface="Times New Roman"/>
                <a:sym typeface="Times New Roman"/>
              </a:rPr>
              <a:t>Software details</a:t>
            </a:r>
          </a:p>
        </p:txBody>
      </p:sp>
      <p:sp>
        <p:nvSpPr>
          <p:cNvPr id="4" name="Text Placeholder 3">
            <a:extLst>
              <a:ext uri="{FF2B5EF4-FFF2-40B4-BE49-F238E27FC236}">
                <a16:creationId xmlns:a16="http://schemas.microsoft.com/office/drawing/2014/main" id="{9DA3D7BC-CA86-BFF0-0916-D4D1C083235F}"/>
              </a:ext>
            </a:extLst>
          </p:cNvPr>
          <p:cNvSpPr>
            <a:spLocks noGrp="1" noChangeArrowheads="1"/>
          </p:cNvSpPr>
          <p:nvPr>
            <p:ph type="body" idx="1"/>
          </p:nvPr>
        </p:nvSpPr>
        <p:spPr bwMode="auto">
          <a:xfrm>
            <a:off x="812801" y="1839526"/>
            <a:ext cx="11032836" cy="3559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b="1" dirty="0"/>
              <a:t>Frontend</a:t>
            </a:r>
            <a:r>
              <a:rPr lang="en-IN" dirty="0"/>
              <a:t>: Next.js, React.js, Tailwind CSS, </a:t>
            </a:r>
            <a:r>
              <a:rPr lang="en-IN" dirty="0" err="1"/>
              <a:t>ShadCN</a:t>
            </a:r>
            <a:r>
              <a:rPr lang="en-IN" dirty="0"/>
              <a:t> UI</a:t>
            </a:r>
          </a:p>
          <a:p>
            <a:pPr marL="76200" indent="0">
              <a:buNone/>
            </a:pPr>
            <a:endParaRPr lang="en-IN" dirty="0"/>
          </a:p>
          <a:p>
            <a:pPr marL="76200" indent="0">
              <a:buNone/>
            </a:pPr>
            <a:r>
              <a:rPr lang="en-IN" b="1" dirty="0"/>
              <a:t>Backend</a:t>
            </a:r>
            <a:r>
              <a:rPr lang="en-IN" dirty="0"/>
              <a:t>: Firebase App Hosting, Node.js</a:t>
            </a:r>
          </a:p>
          <a:p>
            <a:pPr marL="76200" indent="0">
              <a:buNone/>
            </a:pPr>
            <a:endParaRPr lang="en-IN" dirty="0"/>
          </a:p>
          <a:p>
            <a:pPr marL="76200" indent="0">
              <a:buNone/>
            </a:pPr>
            <a:r>
              <a:rPr lang="en-IN" dirty="0"/>
              <a:t> </a:t>
            </a:r>
            <a:r>
              <a:rPr lang="en-IN" b="1" dirty="0" err="1"/>
              <a:t>RuntimeAI</a:t>
            </a:r>
            <a:r>
              <a:rPr lang="en-IN" b="1" dirty="0"/>
              <a:t> Framework</a:t>
            </a:r>
            <a:r>
              <a:rPr lang="en-IN" dirty="0"/>
              <a:t>: </a:t>
            </a:r>
            <a:r>
              <a:rPr lang="en-IN" dirty="0" err="1"/>
              <a:t>Genkit</a:t>
            </a:r>
            <a:r>
              <a:rPr lang="en-IN" dirty="0"/>
              <a:t>, Google Gemini API</a:t>
            </a:r>
          </a:p>
          <a:p>
            <a:pPr marL="76200" indent="0">
              <a:buNone/>
            </a:pPr>
            <a:endParaRPr lang="en-IN" dirty="0"/>
          </a:p>
          <a:p>
            <a:pPr marL="76200" indent="0">
              <a:buNone/>
            </a:pPr>
            <a:r>
              <a:rPr lang="en-IN" b="1" dirty="0"/>
              <a:t>Additional Tools</a:t>
            </a:r>
            <a:r>
              <a:rPr lang="en-IN" dirty="0"/>
              <a:t>: Zod Schema Validation, Google Maps Platform</a:t>
            </a:r>
          </a:p>
          <a:p>
            <a:pPr marL="76200" indent="0">
              <a:buNone/>
            </a:pPr>
            <a:r>
              <a:rPr lang="en-IN" dirty="0"/>
              <a:t>                            API, VS Code / Firebase Studio</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3" name="Rectangle 1">
            <a:extLst>
              <a:ext uri="{FF2B5EF4-FFF2-40B4-BE49-F238E27FC236}">
                <a16:creationId xmlns:a16="http://schemas.microsoft.com/office/drawing/2014/main" id="{95A7570C-E457-2DFC-A695-61F4573BA019}"/>
              </a:ext>
            </a:extLst>
          </p:cNvPr>
          <p:cNvSpPr>
            <a:spLocks noGrp="1" noChangeArrowheads="1"/>
          </p:cNvSpPr>
          <p:nvPr>
            <p:ph type="body" idx="1"/>
          </p:nvPr>
        </p:nvSpPr>
        <p:spPr bwMode="auto">
          <a:xfrm>
            <a:off x="599440" y="3233680"/>
            <a:ext cx="18473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2B72770-AA06-58EF-4E01-523E4270ADEF}"/>
              </a:ext>
            </a:extLst>
          </p:cNvPr>
          <p:cNvPicPr>
            <a:picLocks noChangeAspect="1"/>
          </p:cNvPicPr>
          <p:nvPr/>
        </p:nvPicPr>
        <p:blipFill>
          <a:blip r:embed="rId3"/>
          <a:stretch>
            <a:fillRect/>
          </a:stretch>
        </p:blipFill>
        <p:spPr>
          <a:xfrm>
            <a:off x="314632" y="1170039"/>
            <a:ext cx="11366091" cy="469981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hlinkClick r:id="rId3"/>
              </a:rPr>
              <a:t>git@github.com</a:t>
            </a:r>
            <a:r>
              <a:rPr lang="en-US" b="1" dirty="0" err="1">
                <a:solidFill>
                  <a:schemeClr val="accent2">
                    <a:lumMod val="75000"/>
                  </a:schemeClr>
                </a:solidFill>
                <a:latin typeface="Cambria" panose="02040503050406030204" pitchFamily="18" charset="0"/>
                <a:ea typeface="Cambria" panose="02040503050406030204" pitchFamily="18" charset="0"/>
              </a:rPr>
              <a:t>:https</a:t>
            </a:r>
            <a:r>
              <a:rPr lang="en-US" b="1" dirty="0">
                <a:solidFill>
                  <a:schemeClr val="accent2">
                    <a:lumMod val="75000"/>
                  </a:schemeClr>
                </a:solidFill>
                <a:latin typeface="Cambria" panose="02040503050406030204" pitchFamily="18" charset="0"/>
                <a:ea typeface="Cambria" panose="02040503050406030204" pitchFamily="18" charset="0"/>
              </a:rPr>
              <a:t>://github.com/ArunkumarK572/</a:t>
            </a:r>
            <a:r>
              <a:rPr lang="en-US" b="1" dirty="0" err="1">
                <a:solidFill>
                  <a:schemeClr val="accent2">
                    <a:lumMod val="75000"/>
                  </a:schemeClr>
                </a:solidFill>
                <a:latin typeface="Cambria" panose="02040503050406030204" pitchFamily="18" charset="0"/>
                <a:ea typeface="Cambria" panose="02040503050406030204" pitchFamily="18" charset="0"/>
              </a:rPr>
              <a:t>FarmEkoX</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2232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1D3EA395-AF47-3F9A-3D65-42BD2B7F4D00}"/>
              </a:ext>
            </a:extLst>
          </p:cNvPr>
          <p:cNvSpPr>
            <a:spLocks noGrp="1" noChangeArrowheads="1"/>
          </p:cNvSpPr>
          <p:nvPr>
            <p:ph type="body" idx="1"/>
          </p:nvPr>
        </p:nvSpPr>
        <p:spPr bwMode="auto">
          <a:xfrm>
            <a:off x="353962" y="939377"/>
            <a:ext cx="1151314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a:t>
            </a:r>
            <a:r>
              <a:rPr kumimoji="0" lang="en-US" altLang="en-US" sz="1800" b="0" i="0" u="none" strike="noStrike" cap="none" normalizeH="0" baseline="0" dirty="0">
                <a:ln>
                  <a:noFill/>
                </a:ln>
                <a:solidFill>
                  <a:schemeClr val="tx1"/>
                </a:solidFill>
                <a:effectLst/>
                <a:latin typeface="Arial" panose="020B0604020202020204" pitchFamily="34" charset="0"/>
              </a:rPr>
              <a:t>P. </a:t>
            </a:r>
            <a:r>
              <a:rPr kumimoji="0" lang="en-US" altLang="en-US" sz="1800" b="0" i="0" u="none" strike="noStrike" cap="none" normalizeH="0" baseline="0" dirty="0" err="1">
                <a:ln>
                  <a:noFill/>
                </a:ln>
                <a:solidFill>
                  <a:schemeClr val="tx1"/>
                </a:solidFill>
                <a:effectLst/>
                <a:latin typeface="Arial" panose="020B0604020202020204" pitchFamily="34" charset="0"/>
              </a:rPr>
              <a:t>Chantima</a:t>
            </a:r>
            <a:r>
              <a:rPr kumimoji="0" lang="en-US" altLang="en-US" sz="1800" b="0" i="0" u="none" strike="noStrike" cap="none" normalizeH="0" baseline="0" dirty="0">
                <a:ln>
                  <a:noFill/>
                </a:ln>
                <a:solidFill>
                  <a:schemeClr val="tx1"/>
                </a:solidFill>
                <a:effectLst/>
                <a:latin typeface="Arial" panose="020B0604020202020204" pitchFamily="34" charset="0"/>
              </a:rPr>
              <a:t>, T. </a:t>
            </a:r>
            <a:r>
              <a:rPr kumimoji="0" lang="en-US" altLang="en-US" sz="1800" b="0" i="0" u="none" strike="noStrike" cap="none" normalizeH="0" baseline="0" dirty="0" err="1">
                <a:ln>
                  <a:noFill/>
                </a:ln>
                <a:solidFill>
                  <a:schemeClr val="tx1"/>
                </a:solidFill>
                <a:effectLst/>
                <a:latin typeface="Arial" panose="020B0604020202020204" pitchFamily="34" charset="0"/>
              </a:rPr>
              <a:t>Yarnguy</a:t>
            </a:r>
            <a:r>
              <a:rPr kumimoji="0" lang="en-US" altLang="en-US" sz="1800" b="0" i="0" u="none" strike="noStrike" cap="none" normalizeH="0" baseline="0" dirty="0">
                <a:ln>
                  <a:noFill/>
                </a:ln>
                <a:solidFill>
                  <a:schemeClr val="tx1"/>
                </a:solidFill>
                <a:effectLst/>
                <a:latin typeface="Arial" panose="020B0604020202020204" pitchFamily="34" charset="0"/>
              </a:rPr>
              <a:t>, K. </a:t>
            </a:r>
            <a:r>
              <a:rPr kumimoji="0" lang="en-US" altLang="en-US" sz="1800" b="0" i="0" u="none" strike="noStrike" cap="none" normalizeH="0" baseline="0" dirty="0" err="1">
                <a:ln>
                  <a:noFill/>
                </a:ln>
                <a:solidFill>
                  <a:schemeClr val="tx1"/>
                </a:solidFill>
                <a:effectLst/>
                <a:latin typeface="Arial" panose="020B0604020202020204" pitchFamily="34" charset="0"/>
              </a:rPr>
              <a:t>Sarawan</a:t>
            </a:r>
            <a:r>
              <a:rPr kumimoji="0" lang="en-US" altLang="en-US" sz="1800" b="0" i="0" u="none" strike="noStrike" cap="none" normalizeH="0" baseline="0" dirty="0">
                <a:ln>
                  <a:noFill/>
                </a:ln>
                <a:solidFill>
                  <a:schemeClr val="tx1"/>
                </a:solidFill>
                <a:effectLst/>
                <a:latin typeface="Arial" panose="020B0604020202020204" pitchFamily="34" charset="0"/>
              </a:rPr>
              <a:t>, R. </a:t>
            </a:r>
            <a:r>
              <a:rPr kumimoji="0" lang="en-US" altLang="en-US" sz="1800" b="0" i="0" u="none" strike="noStrike" cap="none" normalizeH="0" baseline="0" dirty="0" err="1">
                <a:ln>
                  <a:noFill/>
                </a:ln>
                <a:solidFill>
                  <a:schemeClr val="tx1"/>
                </a:solidFill>
                <a:effectLst/>
                <a:latin typeface="Arial" panose="020B0604020202020204" pitchFamily="34" charset="0"/>
              </a:rPr>
              <a:t>Sangmuenmao</a:t>
            </a:r>
            <a:r>
              <a:rPr kumimoji="0" lang="en-US" altLang="en-US" sz="1800" b="0" i="0" u="none" strike="noStrike" cap="none" normalizeH="0" baseline="0" dirty="0">
                <a:ln>
                  <a:noFill/>
                </a:ln>
                <a:solidFill>
                  <a:schemeClr val="tx1"/>
                </a:solidFill>
                <a:effectLst/>
                <a:latin typeface="Arial" panose="020B0604020202020204" pitchFamily="34" charset="0"/>
              </a:rPr>
              <a:t>, W. </a:t>
            </a:r>
            <a:r>
              <a:rPr kumimoji="0" lang="en-US" altLang="en-US" sz="1800" b="0" i="0" u="none" strike="noStrike" cap="none" normalizeH="0" baseline="0" dirty="0" err="1">
                <a:ln>
                  <a:noFill/>
                </a:ln>
                <a:solidFill>
                  <a:schemeClr val="tx1"/>
                </a:solidFill>
                <a:effectLst/>
                <a:latin typeface="Arial" panose="020B0604020202020204" pitchFamily="34" charset="0"/>
              </a:rPr>
              <a:t>Sommool</a:t>
            </a:r>
            <a:r>
              <a:rPr kumimoji="0" lang="en-US" altLang="en-US" sz="1800" b="0" i="0" u="none" strike="noStrike" cap="none" normalizeH="0" baseline="0" dirty="0">
                <a:ln>
                  <a:noFill/>
                </a:ln>
                <a:solidFill>
                  <a:schemeClr val="tx1"/>
                </a:solidFill>
                <a:effectLst/>
                <a:latin typeface="Arial" panose="020B0604020202020204" pitchFamily="34" charset="0"/>
              </a:rPr>
              <a:t>, and S. </a:t>
            </a:r>
            <a:r>
              <a:rPr kumimoji="0" lang="en-US" altLang="en-US" sz="1800" b="0" i="0" u="none" strike="noStrike" cap="none" normalizeH="0" baseline="0" dirty="0" err="1">
                <a:ln>
                  <a:noFill/>
                </a:ln>
                <a:solidFill>
                  <a:schemeClr val="tx1"/>
                </a:solidFill>
                <a:effectLst/>
                <a:latin typeface="Arial" panose="020B0604020202020204" pitchFamily="34" charset="0"/>
              </a:rPr>
              <a:t>Gonwirut</a:t>
            </a:r>
            <a:r>
              <a:rPr kumimoji="0" lang="en-US" altLang="en-US" sz="1800" b="0" i="0" u="none" strike="noStrike" cap="none" normalizeH="0" baseline="0" dirty="0">
                <a:ln>
                  <a:noFill/>
                </a:ln>
                <a:solidFill>
                  <a:schemeClr val="tx1"/>
                </a:solidFill>
                <a:effectLst/>
                <a:latin typeface="Arial" panose="020B0604020202020204" pitchFamily="34" charset="0"/>
              </a:rPr>
              <a:t>, "Hybrid Intelligence for Field-Scale Soil Analysis and Crop Advisory Using Embedded Sensors and Machine Learning,"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13, pp. 174120–174138, 2025.</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a:t>
            </a:r>
            <a:r>
              <a:rPr kumimoji="0" lang="en-US" altLang="en-US" sz="1800" b="0" i="0" u="none" strike="noStrike" cap="none" normalizeH="0" baseline="0" dirty="0">
                <a:ln>
                  <a:noFill/>
                </a:ln>
                <a:solidFill>
                  <a:schemeClr val="tx1"/>
                </a:solidFill>
                <a:effectLst/>
                <a:latin typeface="Arial" panose="020B0604020202020204" pitchFamily="34" charset="0"/>
              </a:rPr>
              <a:t> A. Khaliq, A. Khan, S. Jan, M. Umair, A. </a:t>
            </a:r>
            <a:r>
              <a:rPr kumimoji="0" lang="en-US" altLang="en-US" sz="1800" b="0" i="0" u="none" strike="noStrike" cap="none" normalizeH="0" baseline="0" dirty="0" err="1">
                <a:ln>
                  <a:noFill/>
                </a:ln>
                <a:solidFill>
                  <a:schemeClr val="tx1"/>
                </a:solidFill>
                <a:effectLst/>
                <a:latin typeface="Arial" panose="020B0604020202020204" pitchFamily="34" charset="0"/>
              </a:rPr>
              <a:t>Gulshair</a:t>
            </a:r>
            <a:r>
              <a:rPr kumimoji="0" lang="en-US" altLang="en-US" sz="1800" b="0" i="0" u="none" strike="noStrike" cap="none" normalizeH="0" baseline="0" dirty="0">
                <a:ln>
                  <a:noFill/>
                </a:ln>
                <a:solidFill>
                  <a:schemeClr val="tx1"/>
                </a:solidFill>
                <a:effectLst/>
                <a:latin typeface="Arial" panose="020B0604020202020204" pitchFamily="34" charset="0"/>
              </a:rPr>
              <a:t>, A. Ali, and U. A. Shah, "AI-Driven Smart Agriculture: An Integrated Approach for Soil Analysis, Irrigation, and Crop-Fertilizer Recommendations,"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13, pp. 141124–141138, 2025.</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[3]  </a:t>
            </a:r>
            <a:r>
              <a:rPr kumimoji="0" lang="en-US" altLang="en-US" sz="1800" b="0" i="0" u="none" strike="noStrike" cap="none" normalizeH="0" baseline="0" dirty="0">
                <a:ln>
                  <a:noFill/>
                </a:ln>
                <a:solidFill>
                  <a:schemeClr val="tx1"/>
                </a:solidFill>
                <a:effectLst/>
                <a:latin typeface="Arial" panose="020B0604020202020204" pitchFamily="34" charset="0"/>
              </a:rPr>
              <a:t> J.-J. Liu, H. Wu, and I. Riaz, "Advanced Technologies for Smart Fertilizer Management in Agriculture: A Review,"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13, pp. 139766–139790, 2025.</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[4]</a:t>
            </a:r>
            <a:r>
              <a:rPr kumimoji="0" lang="en-US" altLang="en-US" sz="1800" b="0" i="0" u="none" strike="noStrike" cap="none" normalizeH="0" baseline="0" dirty="0">
                <a:ln>
                  <a:noFill/>
                </a:ln>
                <a:solidFill>
                  <a:schemeClr val="tx1"/>
                </a:solidFill>
                <a:effectLst/>
                <a:latin typeface="Arial" panose="020B0604020202020204" pitchFamily="34" charset="0"/>
              </a:rPr>
              <a:t>  R. J. Martin, R. Mittal, V. Malik, F. </a:t>
            </a:r>
            <a:r>
              <a:rPr kumimoji="0" lang="en-US" altLang="en-US" sz="1800" b="0" i="0" u="none" strike="noStrike" cap="none" normalizeH="0" baseline="0" dirty="0" err="1">
                <a:ln>
                  <a:noFill/>
                </a:ln>
                <a:solidFill>
                  <a:schemeClr val="tx1"/>
                </a:solidFill>
                <a:effectLst/>
                <a:latin typeface="Arial" panose="020B0604020202020204" pitchFamily="34" charset="0"/>
              </a:rPr>
              <a:t>Jeribi</a:t>
            </a:r>
            <a:r>
              <a:rPr kumimoji="0" lang="en-US" altLang="en-US" sz="1800" b="0" i="0" u="none" strike="noStrike" cap="none" normalizeH="0" baseline="0" dirty="0">
                <a:ln>
                  <a:noFill/>
                </a:ln>
                <a:solidFill>
                  <a:schemeClr val="tx1"/>
                </a:solidFill>
                <a:effectLst/>
                <a:latin typeface="Arial" panose="020B0604020202020204" pitchFamily="34" charset="0"/>
              </a:rPr>
              <a:t>, S. T. Siddiqui, M. A. Hossain, and S. L. Swapna, "XAI-Powered Smart Agriculture Framework for Enhancing Food Productivity and Sustainability,"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12, pp. 168412–168427, 2024.</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solidFill>
                  <a:schemeClr val="tx1"/>
                </a:solidFill>
                <a:latin typeface="Arial" panose="020B0604020202020204" pitchFamily="34" charset="0"/>
              </a:rPr>
              <a:t>[5]</a:t>
            </a:r>
            <a:r>
              <a:rPr kumimoji="0" lang="en-US" altLang="en-US" sz="1800" b="0" i="0" u="none" strike="noStrike" cap="none" normalizeH="0" baseline="0" dirty="0">
                <a:ln>
                  <a:noFill/>
                </a:ln>
                <a:solidFill>
                  <a:schemeClr val="tx1"/>
                </a:solidFill>
                <a:effectLst/>
                <a:latin typeface="Arial" panose="020B0604020202020204" pitchFamily="34" charset="0"/>
              </a:rPr>
              <a:t> E. </a:t>
            </a:r>
            <a:r>
              <a:rPr kumimoji="0" lang="en-US" altLang="en-US" sz="1800" b="0" i="0" u="none" strike="noStrike" cap="none" normalizeH="0" baseline="0" dirty="0" err="1">
                <a:ln>
                  <a:noFill/>
                </a:ln>
                <a:solidFill>
                  <a:schemeClr val="tx1"/>
                </a:solidFill>
                <a:effectLst/>
                <a:latin typeface="Arial" panose="020B0604020202020204" pitchFamily="34" charset="0"/>
              </a:rPr>
              <a:t>Elbasi</a:t>
            </a:r>
            <a:r>
              <a:rPr kumimoji="0" lang="en-US" altLang="en-US" sz="1800" b="0" i="0" u="none" strike="noStrike" cap="none" normalizeH="0" baseline="0" dirty="0">
                <a:ln>
                  <a:noFill/>
                </a:ln>
                <a:solidFill>
                  <a:schemeClr val="tx1"/>
                </a:solidFill>
                <a:effectLst/>
                <a:latin typeface="Arial" panose="020B0604020202020204" pitchFamily="34" charset="0"/>
              </a:rPr>
              <a:t>, N. Mostafa, Z. </a:t>
            </a:r>
            <a:r>
              <a:rPr kumimoji="0" lang="en-US" altLang="en-US" sz="1800" b="0" i="0" u="none" strike="noStrike" cap="none" normalizeH="0" baseline="0" dirty="0" err="1">
                <a:ln>
                  <a:noFill/>
                </a:ln>
                <a:solidFill>
                  <a:schemeClr val="tx1"/>
                </a:solidFill>
                <a:effectLst/>
                <a:latin typeface="Arial" panose="020B0604020202020204" pitchFamily="34" charset="0"/>
              </a:rPr>
              <a:t>Alarnaout</a:t>
            </a:r>
            <a:r>
              <a:rPr kumimoji="0" lang="en-US" altLang="en-US" sz="1800" b="0" i="0" u="none" strike="noStrike" cap="none" normalizeH="0" baseline="0" dirty="0">
                <a:ln>
                  <a:noFill/>
                </a:ln>
                <a:solidFill>
                  <a:schemeClr val="tx1"/>
                </a:solidFill>
                <a:effectLst/>
                <a:latin typeface="Arial" panose="020B0604020202020204" pitchFamily="34" charset="0"/>
              </a:rPr>
              <a:t>, A. I. </a:t>
            </a:r>
            <a:r>
              <a:rPr kumimoji="0" lang="en-US" altLang="en-US" sz="1800" b="0" i="0" u="none" strike="noStrike" cap="none" normalizeH="0" baseline="0" dirty="0" err="1">
                <a:ln>
                  <a:noFill/>
                </a:ln>
                <a:solidFill>
                  <a:schemeClr val="tx1"/>
                </a:solidFill>
                <a:effectLst/>
                <a:latin typeface="Arial" panose="020B0604020202020204" pitchFamily="34" charset="0"/>
              </a:rPr>
              <a:t>Zreikat</a:t>
            </a:r>
            <a:r>
              <a:rPr kumimoji="0" lang="en-US" altLang="en-US" sz="1800" b="0" i="0" u="none" strike="noStrike" cap="none" normalizeH="0" baseline="0" dirty="0">
                <a:ln>
                  <a:noFill/>
                </a:ln>
                <a:solidFill>
                  <a:schemeClr val="tx1"/>
                </a:solidFill>
                <a:effectLst/>
                <a:latin typeface="Arial" panose="020B0604020202020204" pitchFamily="34" charset="0"/>
              </a:rPr>
              <a:t>, E. Cina, G. Varghese, A. </a:t>
            </a:r>
            <a:r>
              <a:rPr kumimoji="0" lang="en-US" altLang="en-US" sz="1800" b="0" i="0" u="none" strike="noStrike" cap="none" normalizeH="0" baseline="0" dirty="0" err="1">
                <a:ln>
                  <a:noFill/>
                </a:ln>
                <a:solidFill>
                  <a:schemeClr val="tx1"/>
                </a:solidFill>
                <a:effectLst/>
                <a:latin typeface="Arial" panose="020B0604020202020204" pitchFamily="34" charset="0"/>
              </a:rPr>
              <a:t>Shdefat</a:t>
            </a:r>
            <a:r>
              <a:rPr kumimoji="0" lang="en-US" altLang="en-US" sz="1800" b="0" i="0" u="none" strike="noStrike" cap="none" normalizeH="0" baseline="0" dirty="0">
                <a:ln>
                  <a:noFill/>
                </a:ln>
                <a:solidFill>
                  <a:schemeClr val="tx1"/>
                </a:solidFill>
                <a:effectLst/>
                <a:latin typeface="Arial" panose="020B0604020202020204" pitchFamily="34" charset="0"/>
              </a:rPr>
              <a:t>, A. E. </a:t>
            </a:r>
            <a:r>
              <a:rPr kumimoji="0" lang="en-US" altLang="en-US" sz="1800" b="0" i="0" u="none" strike="noStrike" cap="none" normalizeH="0" baseline="0" dirty="0" err="1">
                <a:ln>
                  <a:noFill/>
                </a:ln>
                <a:solidFill>
                  <a:schemeClr val="tx1"/>
                </a:solidFill>
                <a:effectLst/>
                <a:latin typeface="Arial" panose="020B0604020202020204" pitchFamily="34" charset="0"/>
              </a:rPr>
              <a:t>Topcu</a:t>
            </a:r>
            <a:r>
              <a:rPr kumimoji="0" lang="en-US" altLang="en-US" sz="1800" b="0" i="0" u="none" strike="noStrike" cap="none" normalizeH="0" baseline="0" dirty="0">
                <a:ln>
                  <a:noFill/>
                </a:ln>
                <a:solidFill>
                  <a:schemeClr val="tx1"/>
                </a:solidFill>
                <a:effectLst/>
                <a:latin typeface="Arial" panose="020B0604020202020204" pitchFamily="34" charset="0"/>
              </a:rPr>
              <a:t>, W. Abdelbaki, S. Mathew, and C. Zaki, "Artificial Intelligence Technology in the Agricultural Sector: A Systematic Literature Review,"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11, pp. 171–202, 2023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2191</TotalTime>
  <Words>1209</Words>
  <Application>Microsoft Office PowerPoint</Application>
  <PresentationFormat>Widescreen</PresentationFormat>
  <Paragraphs>107</Paragraphs>
  <Slides>15</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Cambria</vt:lpstr>
      <vt:lpstr>Times New Roman</vt:lpstr>
      <vt:lpstr>Verdana</vt:lpstr>
      <vt:lpstr>Wingdings</vt:lpstr>
      <vt:lpstr>Bioinformatics</vt:lpstr>
      <vt:lpstr>FarmEkoX: Smart Crop Advisory System for Small and Marginal Farmers.</vt:lpstr>
      <vt:lpstr>Content</vt:lpstr>
      <vt:lpstr>Abstract </vt:lpstr>
      <vt:lpstr>Literature survey  </vt:lpstr>
      <vt:lpstr>Objectives:</vt:lpstr>
      <vt:lpstr>Existing methods and drawbacks </vt:lpstr>
      <vt:lpstr>Existing methods and drawbacks </vt:lpstr>
      <vt:lpstr>Architecture Diagram </vt:lpstr>
      <vt:lpstr>PROPOSED METHODOLOGY</vt:lpstr>
      <vt:lpstr> MODULES</vt:lpstr>
      <vt:lpstr>Software details</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Naveen Mallikarjunaiah</cp:lastModifiedBy>
  <cp:revision>51</cp:revision>
  <dcterms:modified xsi:type="dcterms:W3CDTF">2026-02-03T07:12:22Z</dcterms:modified>
</cp:coreProperties>
</file>